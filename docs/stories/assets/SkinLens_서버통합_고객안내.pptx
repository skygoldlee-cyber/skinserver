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work/u_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0"/>
            <a:ext cx="6355080" cy="34015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12648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6035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안내 문서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3504" y="10515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SkinLens 서버 이야기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21792" y="18470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E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 데스크톱이 식당이 되기까지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2487168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구축 → 하드닝 → 운영 → 백업 → 이관 → 배포. 한 서버의 처음부터 끝까지, ‘작은 식당 주방’ 비유로 풀어낸 여정입니다.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611880"/>
            <a:ext cx="1572768" cy="530352"/>
          </a:xfrm>
          <a:prstGeom prst="roundRect">
            <a:avLst>
              <a:gd name="adj" fmla="val 1551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61188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E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구축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377440" y="3611880"/>
            <a:ext cx="1572768" cy="530352"/>
          </a:xfrm>
          <a:prstGeom prst="roundRect">
            <a:avLst>
              <a:gd name="adj" fmla="val 1551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77440" y="361188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E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하드닝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114800" y="3611880"/>
            <a:ext cx="1572768" cy="530352"/>
          </a:xfrm>
          <a:prstGeom prst="roundRect">
            <a:avLst>
              <a:gd name="adj" fmla="val 1551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0" y="361188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E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4270248"/>
            <a:ext cx="1572768" cy="530352"/>
          </a:xfrm>
          <a:prstGeom prst="roundRect">
            <a:avLst>
              <a:gd name="adj" fmla="val 1551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427024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E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백업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377440" y="4270248"/>
            <a:ext cx="1572768" cy="530352"/>
          </a:xfrm>
          <a:prstGeom prst="roundRect">
            <a:avLst>
              <a:gd name="adj" fmla="val 1551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77440" y="427024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E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이관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114800" y="4270248"/>
            <a:ext cx="1572768" cy="530352"/>
          </a:xfrm>
          <a:prstGeom prst="roundRect">
            <a:avLst>
              <a:gd name="adj" fmla="val 1551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0" y="4270248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E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" y="62910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CÔTELEAF · SkinLens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89320" y="36118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식당 주방에 빗대어, 서버가 태어나 손님을 받기까지의 전 과정을 한눈에.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여정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여섯 막으로 보는 서버의 일생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pic>
        <p:nvPicPr>
          <p:cNvPr id="5" name="Image 0" descr="/mnt/user-data/work/u_ac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728216"/>
            <a:ext cx="3355848" cy="1234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2376" y="3081528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4"/>
          <p:cNvSpPr/>
          <p:nvPr/>
        </p:nvSpPr>
        <p:spPr>
          <a:xfrm>
            <a:off x="722376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16152" y="3063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구축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22376" y="344728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 데스크톱 위에 주방 짓기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4256" y="160020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pic>
        <p:nvPicPr>
          <p:cNvPr id="11" name="Image 1" descr="/mnt/user-data/work/u_act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1728216"/>
            <a:ext cx="3355848" cy="12344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53712" y="3081528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9"/>
          <p:cNvSpPr/>
          <p:nvPr/>
        </p:nvSpPr>
        <p:spPr>
          <a:xfrm>
            <a:off x="4553712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047488" y="3063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하드닝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553712" y="344728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주방 문을 잠그고 안전하게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65592" y="160020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pic>
        <p:nvPicPr>
          <p:cNvPr id="17" name="Image 2" descr="/mnt/user-data/work/u_act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1728216"/>
            <a:ext cx="3355848" cy="123444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385048" y="3081528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4"/>
          <p:cNvSpPr/>
          <p:nvPr/>
        </p:nvSpPr>
        <p:spPr>
          <a:xfrm>
            <a:off x="8385048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878824" y="3063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운영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8385048" y="344728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안정적으로 영업하기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02920" y="4005072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pic>
        <p:nvPicPr>
          <p:cNvPr id="23" name="Image 3" descr="/mnt/user-data/work/u_act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4133088"/>
            <a:ext cx="3355848" cy="123444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22376" y="548640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5" name="Text 19"/>
          <p:cNvSpPr/>
          <p:nvPr/>
        </p:nvSpPr>
        <p:spPr>
          <a:xfrm>
            <a:off x="722376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216152" y="546811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백업</a:t>
            </a:r>
            <a:endParaRPr lang="en-US" sz="1900" dirty="0"/>
          </a:p>
        </p:txBody>
      </p:sp>
      <p:sp>
        <p:nvSpPr>
          <p:cNvPr id="27" name="Text 21"/>
          <p:cNvSpPr/>
          <p:nvPr/>
        </p:nvSpPr>
        <p:spPr>
          <a:xfrm>
            <a:off x="722376" y="585216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장부와 주방을 안전하게 지키기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334256" y="4005072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pic>
        <p:nvPicPr>
          <p:cNvPr id="29" name="Image 4" descr="/mnt/user-data/work/u_act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272" y="4133088"/>
            <a:ext cx="3355848" cy="123444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4553712" y="548640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1" name="Text 24"/>
          <p:cNvSpPr/>
          <p:nvPr/>
        </p:nvSpPr>
        <p:spPr>
          <a:xfrm>
            <a:off x="4553712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5047488" y="546811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이관</a:t>
            </a:r>
            <a:endParaRPr lang="en-US" sz="1900" dirty="0"/>
          </a:p>
        </p:txBody>
      </p:sp>
      <p:sp>
        <p:nvSpPr>
          <p:cNvPr id="33" name="Text 26"/>
          <p:cNvSpPr/>
          <p:nvPr/>
        </p:nvSpPr>
        <p:spPr>
          <a:xfrm>
            <a:off x="4553712" y="585216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좋은 상가(영업점)로 이사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8165592" y="4005072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pic>
        <p:nvPicPr>
          <p:cNvPr id="35" name="Image 5" descr="/mnt/user-data/work/u_act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3608" y="4133088"/>
            <a:ext cx="3355848" cy="1234440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8385048" y="548640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7" name="Text 29"/>
          <p:cNvSpPr/>
          <p:nvPr/>
        </p:nvSpPr>
        <p:spPr>
          <a:xfrm>
            <a:off x="838504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8878824" y="546811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배포</a:t>
            </a:r>
            <a:endParaRPr lang="en-US" sz="1900" dirty="0"/>
          </a:p>
        </p:txBody>
      </p:sp>
      <p:sp>
        <p:nvSpPr>
          <p:cNvPr id="39" name="Text 31"/>
          <p:cNvSpPr/>
          <p:nvPr/>
        </p:nvSpPr>
        <p:spPr>
          <a:xfrm>
            <a:off x="8385048" y="585216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요리를 손님상에 올리기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SkinLens · 서버 통합 이야기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서버 아키텍처 — 한눈에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057400"/>
            <a:ext cx="1554480" cy="1463040"/>
          </a:xfrm>
          <a:prstGeom prst="roundRect">
            <a:avLst>
              <a:gd name="adj" fmla="val 5000"/>
            </a:avLst>
          </a:prstGeom>
          <a:solidFill>
            <a:srgbClr val="EAF0FA"/>
          </a:solidFill>
          <a:ln w="12700">
            <a:solidFill>
              <a:srgbClr val="DDE3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5740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손님
</a:t>
            </a:r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홈·개발자·앱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57400" y="2788920"/>
            <a:ext cx="320040" cy="0"/>
          </a:xfrm>
          <a:prstGeom prst="line">
            <a:avLst/>
          </a:prstGeom>
          <a:noFill/>
          <a:ln w="19050">
            <a:solidFill>
              <a:srgbClr val="6B726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68880" y="242316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F1F1EC"/>
          </a:solidFill>
          <a:ln w="12700">
            <a:solidFill>
              <a:srgbClr val="DDE3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24231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
</a:t>
            </a:r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안내데스크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03320" y="2788920"/>
            <a:ext cx="320040" cy="0"/>
          </a:xfrm>
          <a:prstGeom prst="line">
            <a:avLst/>
          </a:prstGeom>
          <a:noFill/>
          <a:ln w="19050">
            <a:solidFill>
              <a:srgbClr val="6B726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14800" y="242316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EEF2E7"/>
          </a:solidFill>
          <a:ln w="12700">
            <a:solidFill>
              <a:srgbClr val="DDE3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2423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
</a:t>
            </a:r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주방장·FastAPI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0" y="342900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EF2E7"/>
          </a:solidFill>
          <a:ln w="12700">
            <a:solidFill>
              <a:srgbClr val="DDE3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3429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
</a:t>
            </a:r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 담당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3154680"/>
            <a:ext cx="0" cy="274320"/>
          </a:xfrm>
          <a:prstGeom prst="line">
            <a:avLst/>
          </a:prstGeom>
          <a:noFill/>
          <a:ln w="19050">
            <a:solidFill>
              <a:srgbClr val="6B726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114800" y="16002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BF1E9"/>
          </a:solidFill>
          <a:ln w="12700">
            <a:solidFill>
              <a:srgbClr val="DDE3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1600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C1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
</a:t>
            </a:r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예정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148840"/>
            <a:ext cx="0" cy="274320"/>
          </a:xfrm>
          <a:prstGeom prst="line">
            <a:avLst/>
          </a:prstGeom>
          <a:noFill/>
          <a:ln w="12700">
            <a:solidFill>
              <a:srgbClr val="C15B3C"/>
            </a:solidFill>
            <a:prstDash val="dash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806440" y="1920240"/>
            <a:ext cx="2880360" cy="1874520"/>
          </a:xfrm>
          <a:prstGeom prst="roundRect">
            <a:avLst>
              <a:gd name="adj" fmla="val 4878"/>
            </a:avLst>
          </a:prstGeom>
          <a:solidFill>
            <a:srgbClr val="F3F1EA"/>
          </a:solidFill>
          <a:ln w="17780">
            <a:solidFill>
              <a:srgbClr val="6E9E52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852160" y="199339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9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창문 없는 골방 · enginenet (egress 차단)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9320" y="2377440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23774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engine-analysis
</a:t>
            </a:r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피부 분석·점수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89320" y="3063240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30632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engine-prescription
</a:t>
            </a:r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처방(독립 진입점)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0" y="2651760"/>
            <a:ext cx="457200" cy="0"/>
          </a:xfrm>
          <a:prstGeom prst="line">
            <a:avLst/>
          </a:prstGeom>
          <a:noFill/>
          <a:ln w="19050">
            <a:solidFill>
              <a:srgbClr val="6B726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5486400" y="2880360"/>
            <a:ext cx="457200" cy="777240"/>
          </a:xfrm>
          <a:prstGeom prst="line">
            <a:avLst/>
          </a:prstGeom>
          <a:noFill/>
          <a:ln w="19050">
            <a:solidFill>
              <a:srgbClr val="6B726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189720" y="242316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EAF0EC"/>
          </a:solidFill>
          <a:ln w="12700">
            <a:solidFill>
              <a:srgbClr val="DDE3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0" y="2423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
</a:t>
            </a:r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창고 · Postgres·Storage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686800" y="2834640"/>
            <a:ext cx="457200" cy="0"/>
          </a:xfrm>
          <a:prstGeom prst="line">
            <a:avLst/>
          </a:prstGeom>
          <a:noFill/>
          <a:ln w="19050">
            <a:solidFill>
              <a:srgbClr val="6B726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5486400" y="3383280"/>
            <a:ext cx="3611880" cy="365760"/>
          </a:xfrm>
          <a:prstGeom prst="line">
            <a:avLst/>
          </a:prstGeom>
          <a:noFill/>
          <a:ln w="19050">
            <a:solidFill>
              <a:srgbClr val="6B726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02920" y="5120640"/>
            <a:ext cx="11155680" cy="1143000"/>
          </a:xfrm>
          <a:prstGeom prst="roundRect">
            <a:avLst>
              <a:gd name="adj" fmla="val 8000"/>
            </a:avLst>
          </a:prstGeom>
          <a:solidFill>
            <a:srgbClr val="EEF2E7"/>
          </a:solidFill>
          <a:ln w="12700">
            <a:solidFill>
              <a:srgbClr val="DDE3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2303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가지 안전장치 —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엔진은 폐쇄망(egress 차단)이라 민감한 피부 사진이 밖으로 새지 않습니다.  ② 실데이터는 Supabase, 스테이징 DB는 로컬 — 창고를 혼동하지 않습니다.  ③ 손님 데이터는 행 수준 보안(RLS)으로 칸막이가 쳐져, 각 손님은 자기 것만 읽고 씁니다.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SkinLens · 서버 통합 이야기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사진 한 장이 리포트가 되기까지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SkinLens는 비동기 분석입니다 — 손님은 기다리지 않고, 번호표(job_id)로 나중에 결과를 받습니다.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2376" y="22860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21284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접수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560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사진+설문 한 번에 업로드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4256" y="2011680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3712" y="22860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57216" y="221284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번호표 발급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57216" y="2560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job_id 즉시 반환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65592" y="2011680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85048" y="22860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838504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88552" y="221284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접수 대장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88552" y="2560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Queue (Postgres)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291840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2376" y="3566160"/>
            <a:ext cx="457200" cy="457200"/>
          </a:xfrm>
          <a:prstGeom prst="ellipse">
            <a:avLst/>
          </a:prstGeom>
          <a:solidFill>
            <a:srgbClr val="6E9E52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34930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뒤에서 조리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3840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→ 분석 → 처방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34256" y="3291840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53712" y="3566160"/>
            <a:ext cx="457200" cy="457200"/>
          </a:xfrm>
          <a:prstGeom prst="ellipse">
            <a:avLst/>
          </a:prstGeom>
          <a:solidFill>
            <a:srgbClr val="6E9E52"/>
          </a:solidFill>
          <a:ln/>
        </p:spPr>
      </p:sp>
      <p:sp>
        <p:nvSpPr>
          <p:cNvPr id="27" name="Text 25"/>
          <p:cNvSpPr/>
          <p:nvPr/>
        </p:nvSpPr>
        <p:spPr>
          <a:xfrm>
            <a:off x="4553712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57216" y="34930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완성 저장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57216" y="3840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장부·창고 + 완료 표시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65592" y="3291840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85048" y="3566160"/>
            <a:ext cx="457200" cy="457200"/>
          </a:xfrm>
          <a:prstGeom prst="ellipse">
            <a:avLst/>
          </a:prstGeom>
          <a:solidFill>
            <a:srgbClr val="6E9E52"/>
          </a:solidFill>
          <a:ln/>
        </p:spPr>
      </p:sp>
      <p:sp>
        <p:nvSpPr>
          <p:cNvPr id="32" name="Text 30"/>
          <p:cNvSpPr/>
          <p:nvPr/>
        </p:nvSpPr>
        <p:spPr>
          <a:xfrm>
            <a:off x="8385048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988552" y="34930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완료 알림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988552" y="3840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 링크 제공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02920" y="5074920"/>
            <a:ext cx="11155680" cy="1188720"/>
          </a:xfrm>
          <a:prstGeom prst="roundRect">
            <a:avLst>
              <a:gd name="adj" fmla="val 7692"/>
            </a:avLst>
          </a:prstGeom>
          <a:solidFill>
            <a:srgbClr val="EEF2E7"/>
          </a:solidFill>
          <a:ln w="12700">
            <a:solidFill>
              <a:srgbClr val="DDE3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18464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떨어뜨린 접시도 다시 —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엔진 호출이 잠깐 실패하면 주문을 버리지 않고 정해진 횟수까지 다시 대기줄로 돌립니다. 조리 중 담당자가 죽으면 리퍼가 멈춘 주문을 되살리고, 결과는 한 번만 기록됩니다(중복 방지). 대장이 Postgres 한 곳이라 여러 담당자가 같은 주문을 두 번 집지 않습니다.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SkinLens · 서버 통합 이야기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C15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처방 규칙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점수에서 등급, 그리고 배합까지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처방 요리사는 분석 결과·설문(자가보고)·PCR 중 하나 이상이 있으면 동작하며, 점수를 등급과 처방 비율로 옮깁니다.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EAF3EA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– 100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9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양호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51560" y="3520440"/>
            <a:ext cx="16002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6301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C9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4114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처방 비율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214884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EEF2E7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6616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– 76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2194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0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9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경미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931920" y="3520440"/>
            <a:ext cx="16002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36301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E9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566160" y="4114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처방 비율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214884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FBF4E5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– 60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2194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보통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812280" y="3520440"/>
            <a:ext cx="16002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36301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446520" y="4114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처방 비율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0" y="214884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FBEDE7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32688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미만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26880" y="2194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326880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15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위험 / 심각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692640" y="3520440"/>
            <a:ext cx="16002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0" y="36301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15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3.0%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9326880" y="4114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처방 비율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4754880"/>
            <a:ext cx="11155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배합 — </a:t>
            </a:r>
            <a:pPr indent="0" marL="0">
              <a:buNone/>
            </a:pPr>
            <a:r>
              <a:rPr lang="en-US" sz="13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지표별로 활성 믹스 M01~M11을 고르고, PCR 결과가 있으면 PM01~PM03을 더합니다. 실제 배합값은 ‘꼬뜨리브 맞춤형’ 배합표로 채웁니다.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표의 점수 구간·비율은 현재 규칙 기준이며, 도메인 확정에 따라 조정될 수 있습니다.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SkinLens · 서버 통합 이야기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구축 · 하드닝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막 1·2 — 구축과 하드닝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pic>
        <p:nvPicPr>
          <p:cNvPr id="5" name="Image 0" descr="/mnt/user-data/work/u_ac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810512"/>
            <a:ext cx="5157216" cy="1645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36118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44168" y="362102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구축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77240" y="407822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9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 데스크톱 위에 주방 짓기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95528" y="446227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69848" y="44622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WSL2 Ubuntu 설치·최적화 (메모리·CPU·swap)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5528" y="482803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69848" y="48280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Compose로 주방 배치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95528" y="519379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69848" y="51937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키 인증 — 확인 후 비밀번호 잠금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5528" y="555955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69848" y="55595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기동·헬스 체크로 준공 검사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72200" y="164592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pic>
        <p:nvPicPr>
          <p:cNvPr id="19" name="Image 1" descr="/mnt/user-data/work/u_act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810512"/>
            <a:ext cx="5157216" cy="164592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446520" y="36118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7"/>
          <p:cNvSpPr/>
          <p:nvPr/>
        </p:nvSpPr>
        <p:spPr>
          <a:xfrm>
            <a:off x="64465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013448" y="362102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하드닝</a:t>
            </a:r>
            <a:endParaRPr lang="en-US" sz="2100" dirty="0"/>
          </a:p>
        </p:txBody>
      </p:sp>
      <p:sp>
        <p:nvSpPr>
          <p:cNvPr id="23" name="Text 19"/>
          <p:cNvSpPr/>
          <p:nvPr/>
        </p:nvSpPr>
        <p:spPr>
          <a:xfrm>
            <a:off x="6446520" y="407822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9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주방 문을 잠그고 안전하게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6464808" y="446227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739128" y="44622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방화벽 + fail2ban으로 노크 차단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464808" y="482803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739128" y="48280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 포트는 SSH 터널로만 접근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464808" y="519379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739128" y="51937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엔진 폐쇄망 — 외부 egress 차단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464808" y="555955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739128" y="55595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손님별 칸막이 — 행 수준 보안(RLS)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SkinLens · 서버 통합 이야기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· 백업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막 3·4 — 운영과 백업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pic>
        <p:nvPicPr>
          <p:cNvPr id="5" name="Image 0" descr="/mnt/user-data/work/u_act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810512"/>
            <a:ext cx="5157216" cy="1645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36118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44168" y="362102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운영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77240" y="407822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9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안정적으로 영업하기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95528" y="446227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69848" y="44622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Kuma로 서비스 상태 실시간 감시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5528" y="482803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69848" y="48280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개점·시계 보정·헬스 체크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95528" y="519379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69848" y="51937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관리 + 구조적 로깅·이상 알림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5528" y="555955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69848" y="55595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기준 운영, GPU는 옵션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72200" y="164592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pic>
        <p:nvPicPr>
          <p:cNvPr id="19" name="Image 1" descr="/mnt/user-data/work/u_act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810512"/>
            <a:ext cx="5157216" cy="164592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446520" y="36118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7"/>
          <p:cNvSpPr/>
          <p:nvPr/>
        </p:nvSpPr>
        <p:spPr>
          <a:xfrm>
            <a:off x="64465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013448" y="362102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백업</a:t>
            </a:r>
            <a:endParaRPr lang="en-US" sz="2100" dirty="0"/>
          </a:p>
        </p:txBody>
      </p:sp>
      <p:sp>
        <p:nvSpPr>
          <p:cNvPr id="23" name="Text 19"/>
          <p:cNvSpPr/>
          <p:nvPr/>
        </p:nvSpPr>
        <p:spPr>
          <a:xfrm>
            <a:off x="6446520" y="407822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9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장부와 주방을 안전하게 지키기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6464808" y="446227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739128" y="44622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실데이터는 Supabase 관리형 백업·PITR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464808" y="482803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739128" y="48280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스테이징 DB는 pg_backup.sh로 백업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464808" y="519379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739128" y="51937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암호화 + 오프사이트 보관 + 보존 정책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464808" y="555955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739128" y="55595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위험한 변경 전 주방 통째 스냅샷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SkinLens · 서버 통합 이야기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이관 · 배포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막 5·6 — 이관과 배포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pic>
        <p:nvPicPr>
          <p:cNvPr id="5" name="Image 0" descr="/mnt/user-data/work/u_act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810512"/>
            <a:ext cx="5157216" cy="1645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36118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44168" y="362102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이관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77240" y="407822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9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 주방에서 상가(영업점)로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95528" y="446227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69848" y="44622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데이터는 처음부터 Supabase — 가게만 이사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5528" y="482803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69848" y="48280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TTL↓ → 쓰기 중지 → 델타 덤프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95528" y="519379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69848" y="51937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검증 통과 후에만 DNS 전환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5528" y="555955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69848" y="55595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 직후 원본 유지 — 롤백 대비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72200" y="164592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88900" dist="25400" dir="5400000">
              <a:srgbClr val="9AA79A">
                <a:alpha val="28000"/>
              </a:srgbClr>
            </a:outerShdw>
          </a:effectLst>
        </p:spPr>
      </p:sp>
      <p:pic>
        <p:nvPicPr>
          <p:cNvPr id="19" name="Image 1" descr="/mnt/user-data/work/u_act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810512"/>
            <a:ext cx="5157216" cy="164592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446520" y="36118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7"/>
          <p:cNvSpPr/>
          <p:nvPr/>
        </p:nvSpPr>
        <p:spPr>
          <a:xfrm>
            <a:off x="64465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013448" y="362102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배포</a:t>
            </a:r>
            <a:endParaRPr lang="en-US" sz="2100" dirty="0"/>
          </a:p>
        </p:txBody>
      </p:sp>
      <p:sp>
        <p:nvSpPr>
          <p:cNvPr id="23" name="Text 19"/>
          <p:cNvSpPr/>
          <p:nvPr/>
        </p:nvSpPr>
        <p:spPr>
          <a:xfrm>
            <a:off x="6446520" y="407822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9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요리를 손님상에 올리기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6464808" y="446227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739128" y="44622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변경된 서비스만 배포 — 정적은 무빌드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464808" y="482803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739128" y="48280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엔진은 GHCR 이미지 재사용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464808" y="519379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739128" y="51937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staging(연습) → production(영업점) 승격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464808" y="555955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739128" y="55595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헬스 체크 통과 시만 전환, 실패 시 롤백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SkinLens · 서버 통합 이야기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9AA0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· 비유 사전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비유 ↔ 실제 부품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86400" cy="402336"/>
          </a:xfrm>
          <a:prstGeom prst="roundRect">
            <a:avLst>
              <a:gd name="adj" fmla="val 11364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54680" y="160020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부품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002536"/>
            <a:ext cx="5486400" cy="402336"/>
          </a:xfrm>
          <a:prstGeom prst="rect">
            <a:avLst/>
          </a:prstGeom>
          <a:solidFill>
            <a:srgbClr val="F2F4E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025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 데스크톱 위의 집·주방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54680" y="200253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+ WSL2 Ubuntu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규격 조리대 / 주방 배치도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54680" y="24048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docker compose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807208"/>
            <a:ext cx="5486400" cy="402336"/>
          </a:xfrm>
          <a:prstGeom prst="rect">
            <a:avLst/>
          </a:prstGeom>
          <a:solidFill>
            <a:srgbClr val="F2F4E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0720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안내데스크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54680" y="280720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(엣지)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320954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주방장 / 리포트 담당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154680" y="320954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(FastAPI) / worker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611880"/>
            <a:ext cx="5486400" cy="402336"/>
          </a:xfrm>
          <a:prstGeom prst="rect">
            <a:avLst/>
          </a:prstGeom>
          <a:solidFill>
            <a:srgbClr val="F2F4E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1188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창문 없는 골방(핵심망)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54680" y="361188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enginenet (internal network)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401421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요리사 / 처방 요리사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154680" y="401421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engine-analysis / engine-prescription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1600200"/>
            <a:ext cx="5486400" cy="402336"/>
          </a:xfrm>
          <a:prstGeom prst="roundRect">
            <a:avLst>
              <a:gd name="adj" fmla="val 11364"/>
            </a:avLst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6002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823960" y="160020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부품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2002536"/>
            <a:ext cx="5486400" cy="402336"/>
          </a:xfrm>
          <a:prstGeom prst="rect">
            <a:avLst/>
          </a:prstGeom>
          <a:solidFill>
            <a:srgbClr val="F2F4EE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0025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창고(납품처)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823960" y="200253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(Postgres·Storage)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093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임시 냉장고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823960" y="24048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db (스테이징 전용)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72200" y="2807208"/>
            <a:ext cx="5486400" cy="402336"/>
          </a:xfrm>
          <a:prstGeom prst="rect">
            <a:avLst/>
          </a:prstGeom>
          <a:solidFill>
            <a:srgbClr val="F2F4EE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280720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지문 열쇠 / 문지기·노크 차단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823960" y="280720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키 / UFW·fail2ban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09360" y="320954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경비실 CCTV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823960" y="320954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Kuma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72200" y="3611880"/>
            <a:ext cx="5486400" cy="402336"/>
          </a:xfrm>
          <a:prstGeom prst="rect">
            <a:avLst/>
          </a:prstGeom>
          <a:solidFill>
            <a:srgbClr val="F2F4EE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361188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연습 주방 / 영업점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823960" y="361188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(WSL) / production (VPS)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09360" y="401421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창고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823960" y="401421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SkinLens · 서버 통합 이야기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2E9C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마무리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 줄로 다시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6766560" cy="3291840"/>
          </a:xfrm>
          <a:prstGeom prst="roundRect">
            <a:avLst>
              <a:gd name="adj" fmla="val 277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402336" cy="402336"/>
          </a:xfrm>
          <a:prstGeom prst="ellipse">
            <a:avLst/>
          </a:prstGeom>
          <a:solidFill>
            <a:srgbClr val="6E9E5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975104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구축 —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8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 데스크톱에 리눅스 집을 들여 주방을 짓고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487168"/>
            <a:ext cx="402336" cy="402336"/>
          </a:xfrm>
          <a:prstGeom prst="ellipse">
            <a:avLst/>
          </a:prstGeom>
          <a:solidFill>
            <a:srgbClr val="6E9E5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2450592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하드닝 —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8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문에 지문 열쇠를 달고 골방에 창을 없애고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2962656"/>
            <a:ext cx="402336" cy="402336"/>
          </a:xfrm>
          <a:prstGeom prst="ellipse">
            <a:avLst/>
          </a:prstGeom>
          <a:solidFill>
            <a:srgbClr val="6E9E5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292608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—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8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자동으로 영업하며 상태를 점검하고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438144"/>
            <a:ext cx="402336" cy="402336"/>
          </a:xfrm>
          <a:prstGeom prst="ellipse">
            <a:avLst/>
          </a:prstGeom>
          <a:solidFill>
            <a:srgbClr val="6E9E5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38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3401568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백업 —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8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장부를 보호하고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3913632"/>
            <a:ext cx="402336" cy="402336"/>
          </a:xfrm>
          <a:prstGeom prst="ellipse">
            <a:avLst/>
          </a:prstGeom>
          <a:solidFill>
            <a:srgbClr val="6E9E5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913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877056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이관 —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8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실손님을 받을 상가로 이사한 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4389120"/>
            <a:ext cx="402336" cy="402336"/>
          </a:xfrm>
          <a:prstGeom prst="ellipse">
            <a:avLst/>
          </a:prstGeom>
          <a:solidFill>
            <a:srgbClr val="6E9E5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4352544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—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8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메뉴는 시식을 통과할 때만 손님상에 올린다</a:t>
            </a:r>
            <a:endParaRPr lang="en-US" sz="1300" dirty="0"/>
          </a:p>
        </p:txBody>
      </p:sp>
      <p:pic>
        <p:nvPicPr>
          <p:cNvPr id="23" name="Image 0" descr="/mnt/user-data/work/u_poster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417320"/>
            <a:ext cx="2987040" cy="448056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635240" y="5943600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여정 원본 포스터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02920" y="54406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2E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모든 여정이 SkinLens 서버 이야기입니다.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SkinLens · 서버 통합 이야기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2026-08-18T14:14:52Z</dcterms:created>
  <dcterms:modified xsi:type="dcterms:W3CDTF">2026-08-18T14:14:52Z</dcterms:modified>
</cp:coreProperties>
</file>